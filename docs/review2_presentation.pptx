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77240"/>
            <a:ext cx="4114800" cy="347472"/>
          </a:xfrm>
          <a:prstGeom prst="roundRect">
            <a:avLst/>
          </a:prstGeom>
          <a:solidFill>
            <a:srgbClr val="1E3A8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FDBFE"/>
                </a:solidFill>
              </a:defRPr>
            </a:pPr>
            <a:r>
              <a:t>CAPSTONE PROJECT REVIEW 2 (80% IMPLEMENTATION)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Explainable Financial KPI-Matching</a:t>
            </a:r>
          </a:p>
          <a:p>
            <a:pPr>
              <a:spcBef>
                <a:spcPts val="600"/>
              </a:spcBef>
              <a:defRPr sz="1900">
                <a:solidFill>
                  <a:srgbClr val="94A3B8"/>
                </a:solidFill>
              </a:defRPr>
            </a:pPr>
            <a:r>
              <a:t>Dual-Block Feature Architecture &amp; Audit-Compliant XAI for 10-K Narrative Claims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566160"/>
            <a:ext cx="484632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STUDENT INVESTIGATORS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S.K. Thyakeshwar (Reg No: 23BAI0194)</a:t>
            </a:r>
            <a:br/>
            <a:r>
              <a:t>• Sai Sanjay (Reg No: 23BAI0168)</a:t>
            </a:r>
            <a:br/>
            <a:r>
              <a:t>School of Computer Science &amp; Engineering, VIT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566160"/>
            <a:ext cx="484632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PROJECT SUPERVISOR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Dr. Manikandan G</a:t>
            </a:r>
            <a:br/>
            <a:r>
              <a:t>Associate Professor, SCOPE</a:t>
            </a:r>
            <a:br/>
            <a:r>
              <a:t>Vellore Institute of Technology (VIT)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937760"/>
            <a:ext cx="484632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PRIMARY MODEL PERFORMANCE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Balanced Logistic Regression (No Length Features)</a:t>
            </a:r>
            <a:br/>
            <a:r>
              <a:t>• Test Micro-F1: 84.67% (95% CI: [78.67%, 90.00%])</a:t>
            </a:r>
            <a:br/>
            <a:r>
              <a:t>• Macro-F1: 83.75% (Held-Out GOLD n=150)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937760"/>
            <a:ext cx="484632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SCOPE &amp; VERIFICATION PROTOCOL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150 SEC EDGAR author-curated pairs (Single Annotator)</a:t>
            </a:r>
            <a:br/>
            <a:r>
              <a:t>• Dual LinearSHAP (0.009 ms) &amp; LIME XAI Layer</a:t>
            </a:r>
            <a:br/>
            <a:r>
              <a:t>• Status: 80% Implementation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Project Motivation: Automating 10-K Claim Verification with Audit-Compliant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The Dual-Modality of Form 10-K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Corporate SEC 10-Ks combine unstructured narrative text (MD&amp;A) with authoritative financial tables (Balance Sheets, Statements).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Executive claims (e.g., 'Revenues grew to $416.2B') must be reconciled against audited financial line items before certification.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Auditing firms spend thousands of billable CPA hours manually cross-checking hundreds of disclosure pages per filing.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The Black-Box Dilemma in AI Auditing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Standard deep text-pair classifiers operate as opaque black boxes, providing zero mathematical accountability for auditors.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In regulated capital markets, unexplainable predictions cannot be certified by CPAs, audit committees, or compliance officers.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LLMs introduce severe hallucination risks, numerical scale errors, prompt fragility, and impractical 2-5s inference latencies.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Core Objectives for Review 2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Develop an explainable text-pair matching framework linking narrative statements to audited table rows.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Formulate a Dual-Block Feature Architecture (Interpretable Hand-Crafted + Dense Sentence Embeddings).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Implement dual game-theoretic and surrogate XAI (SHAP + LIME) operating with sub-millisecond audit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Literature Review &amp; Research Gaps: The Need for Numerical Scale Awareness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1. Reference Baseline: KPI-Check (Hillebrand et al., 2022)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Citation: IEEE BigData 2022 (Fraunhofer IAIS &amp; PwC Germany).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Architecture: Transformer NER + Table Extraction + Fine-Tuned BERT Relation Extractor.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Performance: 73.00% Micro-F1 on proprietary German commercial reports.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Crucial Scope Distinction: Not directly comparable (German language, different task, proprietary uncurated data). Fair baseline on our data planned.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2375" y="146304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2. Contemporary Context: LLMs in Auditing (Deuser et al., 2025)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Citation: arXiv:2507.16642 (Fraunhofer IAIS &amp; University of Bonn, 2025).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Findings: Evaluates LLM zero-shot verification in regulatory auditing.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Operational Risks: Hallucination of figures, prompt sensitivity, and non-determinism.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Latency Barrier: 2-5s per claim inference latency prevents batch audit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3. Theoretical Foundations: Game-Theoretic &amp; Surrogate XAI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SHAP (Lundberg &amp; Lee, NeurIPS 2017): Shapley values distributing global payoffs fairly.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LinearSHAP: Computes exact attributions analytically in 0.009 ms / sample.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LIME (Ribeiro et al., KDD 2016): Trains local interpretable surrogate g to test stability.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Dual Concordance: Cross-validates global axiomatic attribution with local perturbation.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3886200"/>
            <a:ext cx="5257800" cy="2240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B91C1C"/>
                </a:solidFill>
              </a:defRPr>
            </a:pPr>
            <a:r>
              <a:t>Identified Research Gaps Addressed in this Work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• Gap 1 (Black-Box Opacity): SOTA deep relation extractors provide no auditable trail.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• Gap 2 (Numerical Scale Blindness): Dense sentence embeddings confuse numerical magnitudes ($400M vs $100B have &gt;0.85 cosine similarity).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• Gap 3 (Uncalibrated Margins): Raw classifier confidences lack empirical CPA reliability.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• Gap 4 (Latency Infeasibility): KernelSHAP / LLM inference is too slow for interactive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System Architecture: Modular Pipeline Decoupling Features from Black Boxes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57400" cy="3291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64592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STAGE 1: Ingestion</a:t>
            </a:r>
          </a:p>
          <a:p>
            <a:pPr algn="ctr"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SEC EDGAR 10-K</a:t>
            </a:r>
            <a:br/>
            <a:r>
              <a:t>Full-Text Retrieval</a:t>
            </a:r>
            <a:br/>
            <a:r>
              <a:t>Automated HTML Parsing</a:t>
            </a:r>
            <a:br/>
            <a:r>
              <a:t>473 Unique Sentences</a:t>
            </a:r>
            <a:br/>
            <a:r>
              <a:t>353 Line Items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43199" y="292608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07791" y="1463040"/>
            <a:ext cx="2057400" cy="3291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64592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STAGE 2: Curation</a:t>
            </a:r>
          </a:p>
          <a:p>
            <a:pPr algn="ctr"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Candidate Proposals</a:t>
            </a:r>
            <a:br/>
            <a:r>
              <a:t>150 Author-Curated Pairs</a:t>
            </a:r>
            <a:br/>
            <a:r>
              <a:t>Single Annotator</a:t>
            </a:r>
            <a:br/>
            <a:r>
              <a:t>match: 55 | no_match: 55</a:t>
            </a:r>
            <a:br/>
            <a:r>
              <a:t>ambiguous: 40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19472" y="292608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84064" y="1463040"/>
            <a:ext cx="2057400" cy="329184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64592"/>
          <a:lstStyle/>
          <a:p>
            <a:pPr algn="ctr">
              <a:defRPr sz="1200" b="1">
                <a:solidFill>
                  <a:srgbClr val="9333EA"/>
                </a:solidFill>
              </a:defRPr>
            </a:pPr>
            <a:r>
              <a:t>STAGE 3: Features</a:t>
            </a:r>
          </a:p>
          <a:p>
            <a:pPr algn="ctr"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Dual-Block Pipeline</a:t>
            </a:r>
            <a:br/>
            <a:r>
              <a:t>Block A: Numeric/Lexical</a:t>
            </a:r>
            <a:br/>
            <a:r>
              <a:t>(No Length Shortcuts)</a:t>
            </a:r>
            <a:br/>
            <a:r>
              <a:t>Block B: Dense MiniLM</a:t>
            </a:r>
            <a:br/>
            <a:r>
              <a:t>384-d Cosine Sim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95744" y="292608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0336" y="1463040"/>
            <a:ext cx="2057400" cy="3291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64592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STAGE 4: Classifiers</a:t>
            </a:r>
          </a:p>
          <a:p>
            <a:pPr algn="ctr"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Balanced Logistic Reg.</a:t>
            </a:r>
            <a:br/>
            <a:r>
              <a:t>(Primary Model)</a:t>
            </a:r>
            <a:br/>
            <a:r>
              <a:t>MLP Benchmark</a:t>
            </a:r>
            <a:br/>
            <a:r>
              <a:t>Strict Leak-Free Split</a:t>
            </a:r>
            <a:br/>
            <a:r>
              <a:t>Isotonic Calibration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72016" y="292608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36608" y="1463040"/>
            <a:ext cx="2057400" cy="32918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64592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STAGE 5: XAI &amp; UI</a:t>
            </a:r>
          </a:p>
          <a:p>
            <a:pPr algn="ctr"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Dual SHAP &amp; LIME</a:t>
            </a:r>
            <a:br/>
            <a:r>
              <a:t>Exact LinearSHAP (0.009ms)</a:t>
            </a:r>
            <a:br/>
            <a:r>
              <a:t>Measured Concordance</a:t>
            </a:r>
            <a:br/>
            <a:r>
              <a:t>Interactive Audit UI</a:t>
            </a:r>
            <a:br/>
            <a:r>
              <a:t>Verification Proofs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Key Architectural Advantage: Modular Decoupling for Full Auditability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Unlike monolithic black-box transformers, this pipeline enforces transparent feature separation. Financial auditors inspect the mathematical contribution of exact numerical matching (Block A) independently from semantic paraphrasing (Block B) in real-time (0.009 ms latency).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Detailed System Design: Dual-Block Feature Pipeline (Ablated Length Shortcuts)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BLOCK A: Interpretable Hand-Crafted Features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numeric_value_match ({0, 1}): Exact numerical agreement within 1% relative tolerance between narrative claim and statement figure.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numeric_value_close ({0, 1}): Numerical proximity within 5% relative tolerance, handling rounding (e.g., $416.2B vs $416,161M).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keyword_overlap (in [0, 1]): Jaccard similarity computed over curated domain lexicons (revenue, net income, ebitda, cash, debt).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period_match ({0, 1}): Binary regex matching verifying fiscal year alignment (e.g., FY 2025 vs FY 2024).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string_similarity (in [0, 1]): RapidFuzz token sort ratio invariant to word reordering.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Ablated Length Features: sentence_length and line_item_name_length were ablated following forensic audit to eliminate spurious cross-domain shortcuts.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2375" y="1463040"/>
            <a:ext cx="5257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BLOCK B: Dense Semantic Similarity &amp; Synergy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embedding_cosine_similarity (in [-1, 1]):</a:t>
            </a:r>
            <a:br/>
            <a:r>
              <a:t>  Cosine similarity between normalized 384-dimensional dense sentence embeddings from all-MiniLM-L6-v2: sim(u, v) = (u . v) / (||u|| ||v||).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Why Embeddings Alone Fail (42.00% Micro-F1):</a:t>
            </a:r>
            <a:br/>
            <a:r>
              <a:t>  Dense vector embeddings capture topical semantics but are completely blind to numerical magnitudes. 'Revenue was $400M' and 'Revenue was $100B' yield &gt;0.85 cosine similarity!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Why the Dual Synergy Succeeds (84.67% Micro-F1):</a:t>
            </a:r>
            <a:br/>
            <a:r>
              <a:t>  Block A provides the authoritative numerical bedrock (78.67% F1). Block B resolves vocabulary paraphrasing where management uses synonyms not present in standard accounting taxonomy headers (boosting F1 to 84.67%).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Dataset Description: 150 SEC EDGAR Author-Curated Pairs &amp; External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SEC EDGAR Form 10-K Retrieval Corpus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Apple Inc. (AAPL_2025): 36 unique candidate sentences, 37 unique line items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Microsoft Corp. (MSFT_2026): 149 unique candidate sentences, 53 unique line items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Tesla Inc. (TSLA_2026): 72 unique candidate sentences, 78 unique line items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NVIDIA Corp. (NVDA_2026): 81 unique candidate sentences, 58 unique line items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Amazon.com Inc. (AMZN_2026): 74 unique candidate sentences, 56 unique line items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Alphabet Inc. (GOOGL_2026): 61 unique candidate sentences, 71 unique line items</a:t>
            </a:r>
          </a:p>
          <a:p>
            <a:br/>
            <a:pPr>
              <a:defRPr sz="1050" b="1">
                <a:solidFill>
                  <a:srgbClr val="2563EB"/>
                </a:solidFill>
              </a:defRPr>
            </a:pPr>
            <a:r>
              <a:t>Corpus Scale: 473 Unique Sentences | 353 Financial Line Items</a:t>
            </a:r>
            <a:br/>
            <a:r>
              <a:t>150 Author-Curated Gold Pairs (Single Annotator, Held-Out Test N=150)</a:t>
            </a:r>
            <a:br/>
            <a:r>
              <a:t>External Benchmark Training Corpus: 581 Pairs (FinQA &amp; TAT-QA)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0975" y="1463040"/>
            <a:ext cx="50292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Data Preprocessing &amp; Normalization Protocol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1. HTML Table &amp; Text Cleaning:</a:t>
            </a:r>
            <a:br/>
            <a:r>
              <a:t>  BeautifulSoup cleans HTML tags, extracts MD&amp;A narrative paragraphs and Consolidated Balance Sheet/Income Statement tables.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2. Regex Number &amp; Unit Scaling:</a:t>
            </a:r>
            <a:br/>
            <a:r>
              <a:t>  Custom regex parses figures with thousands commas, decimal points, and scales billions/millions ($B -&gt; $M multiplier: 1000x).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3. Fiscal Year Period Extraction:</a:t>
            </a:r>
            <a:br/>
            <a:r>
              <a:t>  4-digit year regex identifies reporting periods (e.g., 2025, 2024, 2023) for temporal consistency verification.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4. Financial Lexicon Tokenization:</a:t>
            </a:r>
            <a:br/>
            <a:r>
              <a:t>  18 curated core accounting terms extracted for Jaccard overlap computation.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5. Dense Vector Generation:</a:t>
            </a:r>
            <a:br/>
            <a:r>
              <a:t>  PyTorch sentence-transformers encodes text pairs into normalized 384-dimensional dense vectors.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Dataset Innovation: 4-Tier Financial Ambiguity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1. Subsegment vs Aggregate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Narrative refers to an operational division while table shows consolidated total.</a:t>
            </a:r>
            <a:br/>
            <a:r>
              <a:t>Example: 'Google Cloud revenue: $33,088M' vs 'Total revenue: $307,394M'.</a:t>
            </a:r>
            <a:br/>
            <a:r>
              <a:t>Ground Truth: ambiguous (Subcomponent)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2. Non-GAAP Disclosures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Management reports adjusted figures not directly visible on GAAP statements.</a:t>
            </a:r>
            <a:br/>
            <a:r>
              <a:t>Example: 'Adjusted EBITDA was $14,650M' vs 'Operating income: $8,891M'.</a:t>
            </a:r>
            <a:br/>
            <a:r>
              <a:t>Ground Truth: ambiguous (Accounting Standard)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94760"/>
            <a:ext cx="5257800" cy="2194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3. Ratio vs Nominal Dollar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Narrative presents a percentage or per-share KPI derived from total statement sum.</a:t>
            </a:r>
            <a:br/>
            <a:r>
              <a:t>Example: 'Gross margin percentage: 46.9%' vs 'Total gross margin: $195,201M'.</a:t>
            </a:r>
            <a:br/>
            <a:r>
              <a:t>Ground Truth: ambiguous (Scale/Unit)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94760"/>
            <a:ext cx="5257800" cy="219456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300" b="1">
                <a:solidFill>
                  <a:srgbClr val="9333EA"/>
                </a:solidFill>
              </a:defRPr>
            </a:pPr>
            <a:r>
              <a:t>4. Temporal Mismatch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Narrative discusses forward-looking or cumulative multi-year obligations.</a:t>
            </a:r>
            <a:br/>
            <a:r>
              <a:t>Example: 'Maturities over next 24 months: $21.5B' vs 'Current debt: $12,350M'.</a:t>
            </a:r>
            <a:br/>
            <a:r>
              <a:t>Ground Truth: ambiguous (Time Horizon)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Algorithms &amp; Models: Primary Linear Classifier &amp; Neural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Primary Classifier: Balanced Logistic Regression (No Length)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Mathematical Formulation: P(y=c|x) = softmax(W_c * x + b_c).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Class Weighting: Inversely proportional to class frequencies: w_c = N / (C * N_c), counteracting dataset class skew.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Key Advantage: Globally convex, fully inspectable, deterministic, and supports exact analytical LinearSHAP in 0.009 ms / sample.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Primary Performance: 84.67% Micro-F1 (95% CI: [78.67%, 90.00%]), 83.75% Macro-F1 on held-out GOLD.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Secondary Classifier: Multi-Layer Perceptron (MLP)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Architecture: 2 hidden layers (32, 16 units) with ReLU activation and Adam optimizer.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Evaluation Role: Acts as non-linear benchmark to test feature combination non-linearities.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Findings: When length features are ablated, MLP achieves 85.33% Micro-F1 (Macro: 83.74%), matching LR while requiring slower KernelSHAP (10.97 ms latency).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Probability Calibration: Isotonic Regression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Objective: Transforms raw classifier decision values into reliable empirical posterior probabilities.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Empirical Result: Uncalibrated LR yields sharp Brier score of 0.0070 (ECE: 0.29%).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Prior Shift Finding: 5-fold CV calibration on external train yields Brier 0.0078 (ECE: 1.34%) due to train-test class prior shift (5.5% vs 36.7% match).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Methodology &amp; Experimental Protocol: Strict Leak-Free Evaluation (Held-Out GOLD N=150)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Rigorous Scientific Experimental Protocol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1. Strict Leak-Free Partitioning (Hard Rule 1)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• GOLD (150 pairs) held out strictly as test-only (0 GOLD pairs in training).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• Models trained exclusively on external financial QA datasets (N=581) to evaluate genuine out-of-domain generalization to real SEC 10-K claims.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2. Author-Curated Ground-Truth (Single Annotator)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• 150 claim-table pairs curated directly from audited 10-K figures across 6 core enterprise filings (AAPL, MSFT, TSLA, NVDA, AMZN, GOOGL).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• Balanced distribution: 55 match (36.7%), 55 no_match (36.7%), 40 ambiguous (26.7%).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3. Statistical Rigor via Bootstrap Confidence Intervals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• Non-parametric bootstrap estimation (1,000 iterations, seed=42) for all Micro-F1 and Macro-F1 scores.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• Honest reporting of confidence intervals (~±5.5 points on n=150).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48764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Per-Class Performance Profile (LR No-Length)</a:t>
            </a:r>
          </a:p>
        </p:txBody>
      </p:sp>
      <p:pic>
        <p:nvPicPr>
          <p:cNvPr id="7" name="Picture 6" descr="per_class_metrics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65960"/>
            <a:ext cx="45720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4983480"/>
            <a:ext cx="4572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Evaluation Insight: High precision &amp; recall on 'Match' (Precision: 96.4%, Recall: 98.2%, F1: 97.3%). Ambiguous class achieves 75.0% precision, demonstrating nuanced accounting discrimination.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Experimental Results: Leak-Free Model Comparison Table (Held-Out GOLD n=150)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583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Test-Set Evaluation Metrics (Leak-Free, Held-Out GOLD n=150)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6217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  <a:gridCol w="146304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Model Configuration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Test Micro-F1 (95% CI)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Test Macro-F1 (95% CI)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Test 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Logistic Reg. (No Length) [PRIMARY]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84.67% [78.67, 90.00]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83.75% [77.20, 89.14]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Logistic Reg. (Full A+B, with length)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86.67% [81.33, 92.00]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85.45% [79.46, 90.82]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MLP Classifier (No Length)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85.33% [80.00, 90.67]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83.74% [77.50, 89.47]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MLP Classifier (Full A+B, with length)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68.67% [61.32, 76.00]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67.23% [59.37, 74.41]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Block A Only (No Length)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78.67% [71.33, 85.33]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77.36% [70.31, 83.64]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Block B Only (MiniLM Embeddings)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42.00% [34.00, 50.00]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40.31% [33.01, 47.03]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709160"/>
            <a:ext cx="62179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93B"/>
                </a:solidFill>
              </a:defRPr>
            </a:pPr>
            <a:r>
              <a:t>Key Verified Empirical Findings: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Primary Model Selection: LR without length features achieves 84.67% Micro-F1, eliminating spurious length shortcuts.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Neural Classifier Recovery: Removing length features restores MLP from 68.67% to 85.33% (+16.66% recovery).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Embedding Blindness: Dense embeddings alone achieve only 42.00% Micro-F1 due to numerical scale blindness.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Statistical Confidence: 95% bootstrap confidence intervals (~±5.5%) honestly bounded across 1,000 resamples.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63040"/>
            <a:ext cx="39620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Primary Model Confusion Matrix</a:t>
            </a:r>
          </a:p>
        </p:txBody>
      </p:sp>
      <p:pic>
        <p:nvPicPr>
          <p:cNvPr id="9" name="Picture 8" descr="confusion_matrix_logistic_regressio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965960"/>
            <a:ext cx="3596335" cy="2999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5074920"/>
            <a:ext cx="359633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Audit Matrix Insight: High recall on 'match' (54/55 = 98.2%). Misclassifications concentrate between 'ambiguous' and 'no_match' due to nuanced footnote accounting disclosures.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Feature Ablation Analysis: Numerical Rules as Bedrock, Dense Embeddings as Fine-Tuner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949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Feature Block Ablation Tradeoff (No-Length Models)</a:t>
            </a:r>
          </a:p>
        </p:txBody>
      </p:sp>
      <p:pic>
        <p:nvPicPr>
          <p:cNvPr id="6" name="Picture 5" descr="abl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512064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07492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Ablation Plot: Compares Micro-F1 and Macro-F1 across Block A (78.67%), Block B (42.00%), and Synergy A+B (84.67%). Block A+B synergy yields superior performance (+6.00% over Block A alone).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5937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Key Ablation Insights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• 1. The Semantic Embedding Pitfall (Block B = 42.00% Micro-F1):</a:t>
            </a:r>
            <a:br/>
            <a:r>
              <a:t>  Dense vector embeddings alone achieve only 42.00% Micro-F1 (40.31% Macro-F1). Embeddings capture semantic topic similarity (enterprise sales) but are completely invariant to numerical values. A claim of $400M and a table item of $100B have &gt;0.85 cosine similarity!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• 2. Hand-Crafted Features as the Bedrock (Block A = 78.67% Micro-F1):</a:t>
            </a:r>
            <a:br/>
            <a:r>
              <a:t>  Interpretable numerical tolerances and keyword consistency achieve 78.67% Micro-F1 (77.36% Macro-F1), proving financial claim matching is primarily governed by numeric constraints.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• 3. Synergistic Optimum (Block A+B = 84.67% Micro-F1):</a:t>
            </a:r>
            <a:br/>
            <a:r>
              <a:t>  Combining Block A and Block B resolves vocabulary paraphrasing (84.67% Micro-F1, 83.75% Macro-F1) where management uses synonyms not present in standard accounting taxonomy headers.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Probability Calibration: Prior Shift Diagnostics &amp; Honest Audit Bounds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949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Reliability Diagram on Held-Out GOLD</a:t>
            </a:r>
          </a:p>
        </p:txBody>
      </p:sp>
      <p:pic>
        <p:nvPicPr>
          <p:cNvPr id="6" name="Picture 5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5120640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1605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• Reliability Curve (Left): Uncalibrated LR probabilities (red) vs 5-fold CV calibrated probabilities (blue). Uncalibrated model exhibits sharp discrimination (ECE 0.29%).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• Probability Shift (Right): Calibration on external training set shifts probabilities downward due to the low external match prior (5.51%), inducing underconfidence on GOLD.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5937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Audit Reliability via Calibration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• Why Calibration Matters in Financial Audits:</a:t>
            </a:r>
            <a:br/>
            <a:r>
              <a:t>  Raw machine learning probabilities are often overconfident. A prediction of 90% confidence must correspond to an actual 90% empirical precision for an auditor to rely on it.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• Empirical Findings on Held-Out GOLD (n=150):</a:t>
            </a:r>
            <a:br/>
            <a:r>
              <a:t>  • Uncalibrated Logistic Regression: Brier Score = 0.0070, Expected Calibration Error (ECE) = 0.29%.</a:t>
            </a:r>
            <a:br/>
            <a:r>
              <a:t>• Calibrated Logistic Regression (5-fold CV): Brier Score = 0.0078, ECE = 1.34%.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• Why Calibration Degrades on GOLD (Prior Shift):</a:t>
            </a:r>
            <a:br/>
            <a:r>
              <a:t>  Cross-domain prior shift: External training set has a match prior of 5.51%, while GOLD test set has a match prior of 36.67%. Fitting isotonic regression on external training shifts probabilities downward.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• Planned Remediation:</a:t>
            </a:r>
            <a:br/>
            <a:r>
              <a:t>  Calibrate on an in-domain financial statement split or implement Bayesian class-prior correction.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Global Interpretability: LinearSHAP Feature Attribution (Length Shortcuts Removed)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949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Global Feature Attribution Distribution</a:t>
            </a:r>
          </a:p>
        </p:txBody>
      </p:sp>
      <p:pic>
        <p:nvPicPr>
          <p:cNvPr id="6" name="Picture 5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983480"/>
            <a:ext cx="51206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Global beeswarm plot displays feature impacts on 'match' log-odds. Features ranked top-to-bottom by mean absolute SHAP value across all test claims. Spurious sentence length features have been ablated.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5937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Global Feature Attribution Hierarchy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1. numeric_value_match:</a:t>
            </a:r>
            <a:br/>
            <a:r>
              <a:t>  Dominant global predictor. An exact numerical match heavily shifts log-odds toward positive match.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2. numeric_value_close:</a:t>
            </a:r>
            <a:br/>
            <a:r>
              <a:t>  Strong positive attribution, ensuring resilience against rounding differences ($416.2B vs $416,161M).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3. embedding_cosine_sim:</a:t>
            </a:r>
            <a:br/>
            <a:r>
              <a:t>  Secondary semantic fine-tuner, breaking ties when accounting terminology varies between narratives and tables.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4. keyword_overlap:</a:t>
            </a:r>
            <a:br/>
            <a:r>
              <a:t>  Domain accounting lexicon overlap ensuring topical consistency across statements.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5. string_similarity &amp; period_match:</a:t>
            </a:r>
            <a:br/>
            <a:r>
              <a:t>  Lexical token overlap and fiscal year alignment preventing cross-period mismatches.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Local Interpretability: Measured SHAP vs. LIME Concordance on Held-Out GOLD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0350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Measured Attribution Concordance Across All 150 GOLD Claims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56692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Measured Explainer Agreement (150 Held-Out Samples):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Mean Top-3 Feature Slot Overlap: 80.44% (362 out of 450 feature slots agree).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Exact Instance Concordance: 50.67% (76 out of 150 instances exhibit 3/3 exact top-3 match).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Characterized as Moderate Agreement: High concordance on unambiguous matches; divergence occurs on complex multi-term footnotes where LIME perturbations test local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56692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Audit Significance of Dual XAI Concordance: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Axiomatic vs Perturbative Cross-Validation: SHAP provides globally consistent game-theoretic attributions; LIME validates local surrogate stability.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Detecting Fragile Decisions: When SHAP and LIME diverge, it flags instances with high local sensitivity (e.g. multi-year forward commitments).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Zero Hardcoded Metrics: Previous 93.3% / 80.0% metrics from 5-sample micro-audit replaced with full 150-sample empirical measurements.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63040"/>
            <a:ext cx="451073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Case Study: Footnote Ambiguity Attribution</a:t>
            </a:r>
          </a:p>
        </p:txBody>
      </p:sp>
      <p:pic>
        <p:nvPicPr>
          <p:cNvPr id="9" name="Picture 8" descr="shap_exampl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965960"/>
            <a:ext cx="4206240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86600" y="4160520"/>
            <a:ext cx="420624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Edge-Case Attribution Deep-Dive: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• Claim: Notes payable &amp; other borrowings footnote.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• True Label: ambiguous | Predicted: no_match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• Why Explainers Agree: Both SHAP and LIME assign heavy negative attribution (-0.72) to numeric_value_match due to absence of exact tabular figures.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• Audit Benefit: Transparent audit trails enable auditors to detect nuanced borderline disclosures.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Benchmark Context &amp; Measured Computational Efficiency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Micro-F1 Baseline Context</a:t>
            </a:r>
          </a:p>
        </p:txBody>
      </p:sp>
      <p:pic>
        <p:nvPicPr>
          <p:cNvPr id="6" name="Picture 5" descr="bas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4663440" cy="36667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1463040"/>
            <a:ext cx="551657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Benchmark Context &amp; Measured Inference Latencies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Honest Baseline Context: KPI-Check (2022):</a:t>
            </a:r>
            <a:br/>
            <a:r>
              <a:t>  Not directly comparable (German language, different task, proprietary uncurated data). KPI-Check achieved 73.00% Micro-F1 as an end-to-end relation extractor. Fair in-domain FinBERT baseline on our data planned for final review.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Measured Explainer Latency (In this setup):</a:t>
            </a:r>
            <a:br/>
            <a:r>
              <a:t>  • Exact LinearSHAP (Primary LR Model): 0.009 ms / sample (amortized over batch; 1.35 ms total across 150 test claims).</a:t>
            </a:r>
            <a:br/>
            <a:r>
              <a:t>• KernelSHAP (MLP Classifier): 10.97 ms / sample (1,645.7 ms total across 150 test claims).</a:t>
            </a:r>
            <a:br/>
            <a:r>
              <a:t>Linear models achieve a 1,223.5x explainer latency speedup.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Interactive CPA Auditing Feasibility:</a:t>
            </a:r>
            <a:br/>
            <a:r>
              <a:t>  Sub-millisecond LinearSHAP latency enables instant interactive calculation within spreadsheet extensions and auditing UIs, unlike slow transformer/LLM APIs (2-5s latency).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Self-Audit: Data Leakage Identified, Remediated, and Verified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6 Forensic Audit Deficits Diagnosed &amp; Fixed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1. Train/Test Split Leakage: 123 of 150 gold pairs leaked into training under legacy random split. Fixed: Held out 100% of GOLD as pure test (Hard Rule 1).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2. Calibration Fit on Training: Isotonic regression fit with cv='prefit' on training data. Fixed: Replaced with honest 5-fold CV calibration on training folds.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3. Heuristic Label Leakage: External labels generated with rel_diff &lt;= 2%, nearly identical to feature numeric_value_match (&lt;= 1%). Documented openly.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4. Spurious Length Shortcut: TAT-QA multi-sentence paragraphs (~492 chars) inflated length vs SEC sentences (~70 chars). Fixed: Removed sentence_length &amp; line_len.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5. Hard-Coded XAI Values: Legacy 1.4ms/850ms latencies and 93.3% concordance were hard-coded strings. Replaced with measured values on all 150 GOLD samples.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6. Unsupported Kappa Claim: Cohen's kappa (0.8841) was programmatically generated without underlying annotation files. Removed from all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48764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Model Behavior: Leaked vs. Remediated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20840" y="2011680"/>
          <a:ext cx="4572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 /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Leaked Legacy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Leak-Free Verified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LR Full (All Feats)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85.71% Micro-F1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86.67% Micro-F1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LR No-Length (Primary)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84.67% Micro-F1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MLP Full (All Feats)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85.03% Micro-F1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68.67% (-16.36%)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MLP No-Length (Recovery)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85.33% (+16.66%!)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411480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Audit Proof of Shortcut Recovery: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MLP Overfitting Proof: MLP collapsed from 85.03% to 68.67% under leak-free evaluation because it learned TAT-QA paragraph lengths.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Ablation Recovery: Removing length features restored MLP to 85.33% (+16.66% recovery), matching LR (84.67%).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Scientific Integrity: Demonstrates adherence to Hard Rules 1-6: discovering and fixing leakage strengthens validity.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Limitations &amp; Threats to Validity: Academic Boundary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1417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1. Sample Size Limitation (n=150)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Evaluation is conducted on 150 author-curated pairs, yielding a 95% bootstrap confidence interval of ~±5.5 points ([78.67%, 90.00%]). Larger sample sizes required for narrower bounds.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1417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2. Lack of Hard Numerical Negatives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Current gold dataset lacks negative pairs sharing identical numbers with differing line-item concepts. Consequently, Brier score (0.0070) is optimistic.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257800" cy="1417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3. Enterprise &amp; Sector Concentration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Curated corpus is limited to 6 large-cap tech/consumer companies (AAPL, MSFT, TSLA, NVDA, AMZN, GOOGL); cross-industry generalizability requires broader sector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017520"/>
            <a:ext cx="5257800" cy="14173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9333EA"/>
                </a:solidFill>
              </a:defRPr>
            </a:pPr>
            <a:r>
              <a:t>4. Language &amp; GAAP Accounting Scope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Exclusively English-language Form 10-K filings prepared under US-GAAP. Does not generalize to IFRS or multilingual annual reports without domain re-training.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257800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5. Single-Annotator Ground Truth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The 150 pairs were curated by a single annotator without independent double-blind validation records. Dual-annotator agreement protocol planned.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572000"/>
            <a:ext cx="5257800" cy="1417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6. Cross-Domain Prior Shift &amp; Calibration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Training on external QA data (5.5% match prior) vs testing on SEC GOLD (36.7% match prior) induces class prior shift that currently degrades isotonic calibration (0.0070 -&gt; 0.0078).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REVIEW 2 (80% IMPLEMENTATION)</a:t>
            </a:r>
          </a:p>
          <a:p>
            <a:pPr>
              <a:spcBef>
                <a:spcPts val="200"/>
              </a:spcBef>
              <a:defRPr sz="2100" b="1">
                <a:solidFill>
                  <a:srgbClr val="1E293B"/>
                </a:solidFill>
              </a:defRPr>
            </a:pPr>
            <a:r>
              <a:t>Review 2 Summary &amp; Final Review Roadmap (16th-21st October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Explainable Financial KPI-Matching | S.K. Thyakeshwar (23BAI0194) &amp; Sai Sanjay (23BAI0168) | Guide: Dr. Manikandan G |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663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Review 2 Completed Milestones (80% Implementation)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Automated End-to-End Pipeline: Document Ingestion -&gt; Feature Extraction -&gt; Balanced Training -&gt; Honest Calibration -&gt; Dual XAI Layer.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Leak-Free Benchmark Foundation: Strict held-out evaluation on 150 author-curated GOLD pairs (84.67% Micro-F1, LR No-Length).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Dual XAI Layer with Measured Metrics: LinearSHAP (0.009 ms) and LIME with measured 80.44% feature overlap across all 150 test claims.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Forensic Self-Audit Completed: Diagnosed and resolved all 6 leakage pathways; documented openly in docs/audit_report.md.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Structured SEC XBRL Store: Built 298,663 line-item store (line_items.parquet) across 33 companies to replace HTML table parsing.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2375" y="1463040"/>
            <a:ext cx="5257800" cy="4663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Final Review Roadmap (16th-21st October 2026)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1. XBRL Ingestion with Hard Negatives:</a:t>
            </a:r>
            <a:br/>
            <a:r>
              <a:t>  Mine numerical distractors sharing identical dollar figures but differing line items from line_items.parquet.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2. Company-Level Partitioning:</a:t>
            </a:r>
            <a:br/>
            <a:r>
              <a:t>  Implement strict leave-one-company-out and company-partitioned training splits.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3. Gold Set Expansion &amp; Dual Annotation:</a:t>
            </a:r>
            <a:br/>
            <a:r>
              <a:t>  Expand GOLD corpus with hard negatives; recruit second annotator on 50 pairs for genuine inter-annotator agreement.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4. Advanced Models &amp; Fair Baseline:</a:t>
            </a:r>
            <a:br/>
            <a:r>
              <a:t>  Train LightGBM + TreeSHAP; implement a fair fine-tuned FinBERT / DeBERTa baseline on our data.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5. Calibration Fix:</a:t>
            </a:r>
            <a:br/>
            <a:r>
              <a:t>  Solve prior shift via in-domain split calibration or Bayesian prior adjustment.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6. Stretch Goals:</a:t>
            </a:r>
            <a:br/>
            <a:r>
              <a:t>  End-to-end vector retrieval (hybrid dense/sparse) and timed auditor efficiency user study.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